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846"/>
                </a:solidFill>
              </a:defRPr>
            </a:pPr>
            <a:r>
              <a:t>PJM Hourly Energy Consumption Forecasting</a:t>
            </a:r>
          </a:p>
          <a:p>
            <a:pPr>
              <a:defRPr sz="2400">
                <a:solidFill>
                  <a:srgbClr val="2563EB"/>
                </a:solidFill>
              </a:defRPr>
            </a:pPr>
            <a:r>
              <a:t>XGBoost &amp; SARIMAX Based 30-Day Forecasting</a:t>
            </a:r>
          </a:p>
          <a:p>
            <a:pPr>
              <a:defRPr sz="1500">
                <a:solidFill>
                  <a:srgbClr val="5A697D"/>
                </a:solidFill>
              </a:defRPr>
            </a:pPr>
            <a:r>
              <a:t>Data analysis • Forecasting • Model evaluation • Streamlit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2103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Forecast horizon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3840480"/>
            <a:ext cx="2103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Forecast points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720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3840480"/>
            <a:ext cx="2103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Models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XGBoost + SARIMAX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840480"/>
            <a:ext cx="2103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Target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PJM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Mentor &amp; 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D"/>
                </a:solidFill>
              </a:defRPr>
            </a:pPr>
            <a:r>
              <a:t>Submission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8755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Mentor: </a:t>
            </a:r>
            <a:r>
              <a:rPr lang="en-IN" dirty="0"/>
              <a:t> </a:t>
            </a:r>
            <a:r>
              <a:rPr lang="en-IN"/>
              <a:t>MR.Karthik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Team Members: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• Prem Kiran Boda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• </a:t>
            </a:r>
            <a:r>
              <a:rPr lang="en-IN" sz="2000" dirty="0"/>
              <a:t>Piyush Ranjan Srivastava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• </a:t>
            </a:r>
            <a:r>
              <a:rPr lang="en-IN" sz="2000" dirty="0" err="1"/>
              <a:t>Sayooj</a:t>
            </a:r>
            <a:r>
              <a:rPr lang="en-IN" sz="2000" dirty="0"/>
              <a:t> Chandran P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• </a:t>
            </a:r>
            <a:r>
              <a:rPr lang="en-IN" sz="2000" dirty="0"/>
              <a:t>Siddartha V N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rPr dirty="0"/>
              <a:t>• </a:t>
            </a:r>
            <a:r>
              <a:rPr lang="en-IN" sz="2000" dirty="0" err="1"/>
              <a:t>Sharangouda</a:t>
            </a:r>
            <a:r>
              <a:rPr lang="en-IN" sz="2000" dirty="0"/>
              <a:t> Patil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Analyze historical PJM hourly electricity consumption.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Identify time-based, weekly, seasonal and holiday demand patterns.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Build forecasting models capable of predicting the next 30 days.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Compare machine-learning and seasonal time-series approaches.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Present the forecasts through an interactive Streamlit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Dataset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Rows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143,206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41732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Columns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41732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Target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PJMW_MW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17320"/>
            <a:ext cx="2194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Mean Demand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5,602.38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Time range: April 2002 to August 2018.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Datetime is the hourly time index; PJMW_MW is electricity consumption.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No missing values were found in the original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No fully duplicated rows were found.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dataset provides enough historical depth to study recurring demand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Data Quality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Datetime was converted to a proper time-series index and sorted chronologically.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Time-based features were derived to study hour, day, month, year, season and weekend effects.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Holiday status was identified using the U.S. holiday calendar.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cleaned time series was used for chronological forecasting evaluation.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analysis focused on patterns that could explain changes in hourly electricity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Long-Term Consumption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Electricity demand changes substantially across the full historical period.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series shows both recurring seasonal behavior and longer-term variation.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Demand is not constant, so a forecasting model must account for time dependence.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long historical record provides useful context for model training and evaluation.</a:t>
            </a:r>
          </a:p>
        </p:txBody>
      </p:sp>
      <p:pic>
        <p:nvPicPr>
          <p:cNvPr id="5" name="Picture 4" descr="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50749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Hourly 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Consumption varies clearly by hour of the day.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Demand tends to rise during active daytime and evening periods.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presence of a repeating daily pattern supports a 24-hour seasonal component.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This pattern is especially relevant to SARIMAX seasonal modeling.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Lowest average hour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04:00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82880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Highest average hour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19:00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329184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Peak seasonal demand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Evening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329184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Seasonal period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24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Weekday vs Weekend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Weekdays and weekends follow different consumption profiles.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Weekday demand is generally higher than weekend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difference indicates that human activity and working schedules influence electricity usage.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Weekend behavior is therefore an important contextual signal for machine-learning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002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Weekday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5,754.35 MW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6002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Weekend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5,221.86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154680"/>
            <a:ext cx="4800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Difference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≈ 532.49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Monthly &amp; Seasonal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Monthly demand varies across the year rather than remaining flat.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Winter shows the highest average seasonal consumption.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Autumn and spring have comparatively lower average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Seasonality confirms that time-of-year information is relevant to forecasting.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087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Winter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6,268.81 MW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5087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Summer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5,734.21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Spring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5,224.39 MW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297180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Autumn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5,200.14 MW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Season × Hour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Hourly demand profiles are not identical across seasons.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Summer and winter have different peak timing and intensity.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Winter shows a stronger evening peak, while summer also shows high late-day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interaction between season and hour supports richer feature engineering for XGBoost.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EDA — Holiday &amp; Outlier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Holiday demand is lower on average than non-holiday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This suggests that special-day activity changes electricity usage.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historical distribution contains a small number of unusually high or low observations.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Extreme values should be monitored because they can increase forecasting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50876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Holiday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5,476.77 MW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50876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Non-holiday average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5,606.28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971800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Observed maximum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9,594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Feature Engineering for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Calendar features: year, month, day, hour and day of week.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Behavioral features: weekend and holiday indicators.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Lag features: previous hour, previous day and previous week.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These features allow XGBoost to learn both calendar effects and recent demand relationships.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recursive forecast later updates lag values with its own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Modeling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Two final approaches were emphasized: XGBoost and SARIMAX.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XGBoost represents a feature-driven machine-learning approach.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SARIMAX represents a seasonal time-series approach with a 24-hour cycle.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Models were evaluated using forecasting error metrics such as MAE, RMSE and MAPE, with R² used for model comparison.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final deployment keeps both models available for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SARIMAX — Model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Model: SARIMAX(2,0,1) × (1,1,1,24).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24-hour seasonal period captures repeating daily electricity-demand structure.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Training window: 8,641 hours beginning 01-Aug-2017.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model forecasts directly from its estimated seasonal time-series state.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latest 168 hours were incorporated through state updating before the 30-day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XGBoost — Model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XGBoost Regressor was trained using time and lag-based features.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model learns nonlinear relationships between calendar context and previous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feature set includes previous-hour, previous-day and previous-week demand.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For future forecasting, unknown lag values are handled recursively.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Each predicted hour becomes available as an input for later forecast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Model Comparison — R² / Accuracy</a:t>
            </a:r>
          </a:p>
        </p:txBody>
      </p:sp>
      <p:pic>
        <p:nvPicPr>
          <p:cNvPr id="4" name="Picture 3" descr="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XGBoost achieved the highest reported R² at 99.46%, closely followed by Random Forest at 99.43%.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SARIMAX achieved 93.17% on the reported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Model Comparison — MAE</a:t>
            </a:r>
          </a:p>
        </p:txBody>
      </p:sp>
      <p:pic>
        <p:nvPicPr>
          <p:cNvPr id="4" name="Picture 3" descr="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XGBoost produced the lowest reported MAE among the compared models.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SARIMAX showed substantially higher error than the tree-based models but remained stronger than the other classical baselines in the reported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Model Comparison — RMSE</a:t>
            </a:r>
          </a:p>
        </p:txBody>
      </p:sp>
      <p:pic>
        <p:nvPicPr>
          <p:cNvPr id="4" name="Picture 3" descr="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06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XGBoost achieved the lowest reported RMSE, indicating fewer large prediction errors in its evaluation split.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SARIMAX RMSE was 475.4 MW on the last-7-day hold-out.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Final Model Evaluation — SARIMAX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MAE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379.38 MW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RMSE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475.35 MW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MAPE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6.83%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R²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68.26%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Evaluation: last 7 days / 168-hour hold-out.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SARIMAX captured the repeating daily structure and produced a stable multi-step forecast.</a:t>
            </a:r>
          </a:p>
          <a:p>
            <a:pPr>
              <a:spcAft>
                <a:spcPts val="1000"/>
              </a:spcAft>
              <a:defRPr sz="1800">
                <a:solidFill>
                  <a:srgbClr val="232D3C"/>
                </a:solidFill>
              </a:defRPr>
            </a:pPr>
            <a:r>
              <a:t>The hold-out results show that the model can explain a meaningful share of demand variation, while remaining sensitive to demand changes not captured by the seasonal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30-Day Forecast — XGBoost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Forecast hours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Forecast days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Average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5,729.06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Maximum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7,503.34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32588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Minimum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3,944.14</a:t>
            </a:r>
          </a:p>
        </p:txBody>
      </p:sp>
      <p:pic>
        <p:nvPicPr>
          <p:cNvPr id="9" name="Picture 8" descr="forecast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10424160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30-Day Forecast — SARIMAX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Forecast hours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Forecast days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Average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5,828.84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2588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Maximum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6,947.30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325880"/>
            <a:ext cx="1645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Minimum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4,542.55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The SARIMAX forecast remains within a narrower range than XGBoost.</a:t>
            </a:r>
          </a:p>
          <a:p>
            <a:pPr>
              <a:spcAft>
                <a:spcPts val="1000"/>
              </a:spcAft>
              <a:defRPr sz="2000">
                <a:solidFill>
                  <a:srgbClr val="232D3C"/>
                </a:solidFill>
              </a:defRPr>
            </a:pPr>
            <a:r>
              <a:t>Its daily seasonal structure produces a smooth, repeatable demand profile across the 30-day horizon.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Forecast Comparison &amp; Interpretation</a:t>
            </a:r>
          </a:p>
        </p:txBody>
      </p:sp>
      <p:pic>
        <p:nvPicPr>
          <p:cNvPr id="4" name="Picture 3" descr="forecast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56692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7160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C"/>
                </a:solidFill>
              </a:defRPr>
            </a:pPr>
            <a:r>
              <a:t>XGBoost forecasts a wider demand range: 3,944–7,503 MW.</a:t>
            </a:r>
          </a:p>
          <a:p>
            <a:pPr>
              <a:spcAft>
                <a:spcPts val="1000"/>
              </a:spcAft>
              <a:defRPr sz="1600">
                <a:solidFill>
                  <a:srgbClr val="232D3C"/>
                </a:solidFill>
              </a:defRPr>
            </a:pPr>
            <a:r>
              <a:t>SARIMAX forecasts a narrower range: 4,543–6,947 MW.</a:t>
            </a:r>
          </a:p>
          <a:p>
            <a:pPr>
              <a:spcAft>
                <a:spcPts val="1000"/>
              </a:spcAft>
              <a:defRPr sz="1600">
                <a:solidFill>
                  <a:srgbClr val="232D3C"/>
                </a:solidFill>
              </a:defRPr>
            </a:pPr>
            <a:r>
              <a:t>XGBoost can capture nonlinear relationships from calendar and lag features.</a:t>
            </a:r>
          </a:p>
          <a:p>
            <a:pPr>
              <a:spcAft>
                <a:spcPts val="1000"/>
              </a:spcAft>
              <a:defRPr sz="1600">
                <a:solidFill>
                  <a:srgbClr val="232D3C"/>
                </a:solidFill>
              </a:defRPr>
            </a:pPr>
            <a:r>
              <a:t>SARIMAX emphasizes the recurring 24-hour seasonal structure.</a:t>
            </a:r>
          </a:p>
          <a:p>
            <a:pPr>
              <a:spcAft>
                <a:spcPts val="1000"/>
              </a:spcAft>
              <a:defRPr sz="1600">
                <a:solidFill>
                  <a:srgbClr val="232D3C"/>
                </a:solidFill>
              </a:defRPr>
            </a:pPr>
            <a:r>
              <a:t>Using both models provides a useful comparison between feature-driven and classical seasonal forecasting.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Streamlit App — Dashboard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D"/>
                </a:solidFill>
              </a:defRPr>
            </a:pPr>
            <a:r>
              <a:t>App preview based on the implemented deployment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148840" cy="4800600"/>
          </a:xfrm>
          <a:prstGeom prst="rect">
            <a:avLst/>
          </a:prstGeom>
          <a:solidFill>
            <a:srgbClr val="14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⚡ PJM Energy</a:t>
            </a:r>
            <a:br/>
            <a:r>
              <a:t>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Model: XGBoost / SARIMAX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Overview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Model Performance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30-Day Forecast</a:t>
            </a:r>
          </a:p>
          <a:p>
            <a:pPr>
              <a:spcAft>
                <a:spcPts val="1000"/>
              </a:spcAft>
              <a:defRPr sz="1200">
                <a:solidFill>
                  <a:srgbClr val="232D3C"/>
                </a:solidFill>
              </a:defRPr>
            </a:pPr>
            <a:r>
              <a:t>Forecast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9164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Hours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69164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Days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69164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Avg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5,729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91640"/>
            <a:ext cx="1554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Max MW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7,503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1691640"/>
            <a:ext cx="914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100">
                <a:solidFill>
                  <a:srgbClr val="5A697D"/>
                </a:solidFill>
              </a:defRPr>
            </a:pPr>
            <a:r>
              <a:t>Min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3,944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291840" y="3974166"/>
            <a:ext cx="93754" cy="16349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385594" y="3848027"/>
            <a:ext cx="93755" cy="12613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9349" y="3781453"/>
            <a:ext cx="93755" cy="6657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73104" y="3772904"/>
            <a:ext cx="93755" cy="854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66859" y="3772904"/>
            <a:ext cx="93755" cy="2580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60614" y="3798708"/>
            <a:ext cx="93755" cy="2546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854369" y="3819381"/>
            <a:ext cx="93755" cy="479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48124" y="3772714"/>
            <a:ext cx="93755" cy="4666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041879" y="3696352"/>
            <a:ext cx="93755" cy="7636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35634" y="3621226"/>
            <a:ext cx="93755" cy="7512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29389" y="3583686"/>
            <a:ext cx="93755" cy="375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23144" y="3583686"/>
            <a:ext cx="93755" cy="2593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16899" y="3609624"/>
            <a:ext cx="93755" cy="9332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10654" y="3702950"/>
            <a:ext cx="93755" cy="14047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04409" y="3843422"/>
            <a:ext cx="93755" cy="15136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98164" y="3994789"/>
            <a:ext cx="93754" cy="12494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91918" y="4119730"/>
            <a:ext cx="93755" cy="7541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85673" y="4195146"/>
            <a:ext cx="93755" cy="2605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979428" y="4220219"/>
            <a:ext cx="93755" cy="98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73183" y="4220219"/>
            <a:ext cx="93755" cy="573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66938" y="4225957"/>
            <a:ext cx="93755" cy="4197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60693" y="4267927"/>
            <a:ext cx="93755" cy="8967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354448" y="4357604"/>
            <a:ext cx="93755" cy="12491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48203" y="4482518"/>
            <a:ext cx="93755" cy="12832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41958" y="4610838"/>
            <a:ext cx="93755" cy="9362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35713" y="4704466"/>
            <a:ext cx="93755" cy="3053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729468" y="4695685"/>
            <a:ext cx="93755" cy="3932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823223" y="4604092"/>
            <a:ext cx="93755" cy="91593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916978" y="4494535"/>
            <a:ext cx="93755" cy="10955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010733" y="4403337"/>
            <a:ext cx="93755" cy="9119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104488" y="4353443"/>
            <a:ext cx="93755" cy="4989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198243" y="4344994"/>
            <a:ext cx="93754" cy="844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91997" y="4344994"/>
            <a:ext cx="93755" cy="1094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85752" y="4352396"/>
            <a:ext cx="93755" cy="3543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479507" y="4304255"/>
            <a:ext cx="93755" cy="4814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573262" y="4199218"/>
            <a:ext cx="93755" cy="10503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67017" y="4049170"/>
            <a:ext cx="93755" cy="15004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760772" y="3886079"/>
            <a:ext cx="93755" cy="16309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854527" y="3749177"/>
            <a:ext cx="93755" cy="13690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48282" y="3668942"/>
            <a:ext cx="93755" cy="8023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042037" y="3654785"/>
            <a:ext cx="93755" cy="1415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135792" y="3654785"/>
            <a:ext cx="93755" cy="3698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29547" y="3691772"/>
            <a:ext cx="93755" cy="5598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23302" y="3747752"/>
            <a:ext cx="93755" cy="4005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17057" y="3787803"/>
            <a:ext cx="93755" cy="189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510812" y="3753696"/>
            <a:ext cx="93755" cy="36003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604567" y="3702393"/>
            <a:ext cx="93755" cy="51303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698322" y="3670710"/>
            <a:ext cx="93754" cy="31683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792076" y="3670710"/>
            <a:ext cx="93755" cy="1964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885831" y="3690359"/>
            <a:ext cx="93755" cy="8517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979586" y="3775534"/>
            <a:ext cx="93755" cy="14051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73341" y="3916046"/>
            <a:ext cx="93755" cy="16485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167096" y="4080905"/>
            <a:ext cx="93755" cy="14990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260851" y="4230810"/>
            <a:ext cx="93755" cy="10337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54606" y="4334186"/>
            <a:ext cx="93755" cy="4562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448361" y="4379815"/>
            <a:ext cx="93755" cy="83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542116" y="4367183"/>
            <a:ext cx="93755" cy="1346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635871" y="4367183"/>
            <a:ext cx="93755" cy="606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29626" y="4373244"/>
            <a:ext cx="93755" cy="4723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823381" y="4420475"/>
            <a:ext cx="93755" cy="8771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917136" y="4508187"/>
            <a:ext cx="93755" cy="10484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010891" y="4613032"/>
            <a:ext cx="93755" cy="8563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104646" y="4698671"/>
            <a:ext cx="93755" cy="3256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98401" y="4693909"/>
            <a:ext cx="93754" cy="3732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292155" y="4594300"/>
            <a:ext cx="93755" cy="9960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85910" y="4461412"/>
            <a:ext cx="93755" cy="13288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79665" y="4333516"/>
            <a:ext cx="93755" cy="12789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573420" y="4242166"/>
            <a:ext cx="93755" cy="9135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667175" y="4199274"/>
            <a:ext cx="93755" cy="4289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760930" y="4192808"/>
            <a:ext cx="93755" cy="6466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854685" y="4192808"/>
            <a:ext cx="93755" cy="16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948440" y="4166133"/>
            <a:ext cx="93755" cy="2683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042195" y="4090468"/>
            <a:ext cx="93755" cy="7566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135950" y="3966453"/>
            <a:ext cx="93755" cy="12401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229705" y="3817678"/>
            <a:ext cx="93755" cy="148775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323460" y="3681569"/>
            <a:ext cx="93755" cy="136109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17215" y="3594005"/>
            <a:ext cx="93755" cy="87564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10970" y="3574498"/>
            <a:ext cx="93755" cy="19507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604725" y="3574498"/>
            <a:ext cx="93755" cy="4381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337560" y="544068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</a:defRPr>
            </a:pPr>
            <a:r>
              <a:t>Interactive model selector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</a:defRPr>
            </a:pPr>
            <a:r>
              <a:t>Forecast summary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</a:defRPr>
            </a:pPr>
            <a:r>
              <a:t>Hourly and daily forecast views</a:t>
            </a:r>
          </a:p>
          <a:p>
            <a:pPr>
              <a:spcAft>
                <a:spcPts val="1000"/>
              </a:spcAft>
              <a:defRPr sz="1100">
                <a:solidFill>
                  <a:srgbClr val="232D3C"/>
                </a:solidFill>
              </a:defRPr>
            </a:pPr>
            <a:r>
              <a:t>Downloadable forecast data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846"/>
                </a:solidFill>
              </a:defRPr>
            </a:pPr>
            <a:r>
              <a:t>Challenges Faced During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Handling a large hourly time series while preserving chronological order.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Understanding and separating daily, weekly, seasonal and holiday demand effects.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Choosing suitable model structures for a strong 24-hour seasonal pattern.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Generating a 30-day XGBoost forecast when future lag values are unavailable.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Comparing machine-learning and time-series models using meaningful evaluation metrics.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Preparing the forecasting outputs for an interactive Streamlit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2846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2563EB"/>
                </a:solidFill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5A697D"/>
                </a:solidFill>
              </a:defRPr>
            </a:pPr>
            <a:r>
              <a:t>PJM Hourly Energy Consumption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D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1306</Words>
  <Application>Microsoft Office PowerPoint</Application>
  <PresentationFormat>Widescreen</PresentationFormat>
  <Paragraphs>236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prem</dc:creator>
  <cp:keywords/>
  <dc:description>generated using python-pptx</dc:description>
  <cp:lastModifiedBy>Prem Kiran</cp:lastModifiedBy>
  <cp:revision>2</cp:revision>
  <dcterms:created xsi:type="dcterms:W3CDTF">2013-01-27T09:14:16Z</dcterms:created>
  <dcterms:modified xsi:type="dcterms:W3CDTF">2026-10-07T10:06:37Z</dcterms:modified>
  <cp:category/>
</cp:coreProperties>
</file>